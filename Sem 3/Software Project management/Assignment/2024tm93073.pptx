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slideLayouts/slideLayout4.xml" ContentType="application/vnd.openxmlformats-officedocument.presentationml.slideLayout+xml"/>
  <Override PartName="/ppt/theme/theme5.xml" ContentType="application/vnd.openxmlformats-officedocument.theme+xml"/>
  <Override PartName="/ppt/slideLayouts/slideLayout5.xml" ContentType="application/vnd.openxmlformats-officedocument.presentationml.slideLayout+xml"/>
  <Override PartName="/ppt/theme/theme6.xml" ContentType="application/vnd.openxmlformats-officedocument.theme+xml"/>
  <Override PartName="/ppt/slideLayouts/slideLayout6.xml" ContentType="application/vnd.openxmlformats-officedocument.presentationml.slideLayout+xml"/>
  <Override PartName="/ppt/theme/theme7.xml" ContentType="application/vnd.openxmlformats-officedocument.theme+xml"/>
  <Override PartName="/ppt/slideLayouts/slideLayout7.xml" ContentType="application/vnd.openxmlformats-officedocument.presentationml.slideLayout+xml"/>
  <Override PartName="/ppt/theme/theme8.xml" ContentType="application/vnd.openxmlformats-officedocument.theme+xml"/>
  <Override PartName="/ppt/slideLayouts/slideLayout8.xml" ContentType="application/vnd.openxmlformats-officedocument.presentationml.slideLayout+xml"/>
  <Override PartName="/ppt/theme/theme9.xml" ContentType="application/vnd.openxmlformats-officedocument.theme+xml"/>
  <Override PartName="/ppt/slideLayouts/slideLayout9.xml" ContentType="application/vnd.openxmlformats-officedocument.presentationml.slideLayout+xml"/>
  <Override PartName="/ppt/theme/theme10.xml" ContentType="application/vnd.openxmlformats-officedocument.theme+xml"/>
  <Override PartName="/ppt/slideLayouts/slideLayout10.xml" ContentType="application/vnd.openxmlformats-officedocument.presentationml.slideLayout+xml"/>
  <Override PartName="/ppt/theme/theme11.xml" ContentType="application/vnd.openxmlformats-officedocument.theme+xml"/>
  <Override PartName="/ppt/slideLayouts/slideLayout1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 id="2147483662" r:id="rId4"/>
    <p:sldMasterId id="2147483663" r:id="rId5"/>
    <p:sldMasterId id="2147483664" r:id="rId6"/>
    <p:sldMasterId id="2147483665" r:id="rId7"/>
    <p:sldMasterId id="2147483666" r:id="rId8"/>
    <p:sldMasterId id="2147483667" r:id="rId9"/>
    <p:sldMasterId id="2147483668" r:id="rId10"/>
    <p:sldMasterId id="2147483669" r:id="rId11"/>
    <p:sldMasterId id="2147483670" r:id="rId12"/>
  </p:sldMasterIdLst>
  <p:notesMasterIdLst>
    <p:notesMasterId r:id="rId20"/>
  </p:notesMasterIdLst>
  <p:sldIdLst>
    <p:sldId id="256" r:id="rId13"/>
    <p:sldId id="257" r:id="rId14"/>
    <p:sldId id="264" r:id="rId15"/>
    <p:sldId id="265" r:id="rId16"/>
    <p:sldId id="263" r:id="rId17"/>
    <p:sldId id="262" r:id="rId18"/>
    <p:sldId id="266" r:id="rId19"/>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75FD38-E55D-4503-8FD2-52A62693DD4D}">
  <a:tblStyle styleId="{6B75FD38-E55D-4503-8FD2-52A62693DD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46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6650" tIns="48325" rIns="96650" bIns="483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307104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dirty="0"/>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11006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201134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613342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
        <p:cNvGrpSpPr/>
        <p:nvPr/>
      </p:nvGrpSpPr>
      <p:grpSpPr>
        <a:xfrm>
          <a:off x="0" y="0"/>
          <a:ext cx="0" cy="0"/>
          <a:chOff x="0" y="0"/>
          <a:chExt cx="0" cy="0"/>
        </a:xfrm>
      </p:grpSpPr>
      <p:sp>
        <p:nvSpPr>
          <p:cNvPr id="19" name="Google Shape;19;p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7"/>
        <p:cNvGrpSpPr/>
        <p:nvPr/>
      </p:nvGrpSpPr>
      <p:grpSpPr>
        <a:xfrm>
          <a:off x="0" y="0"/>
          <a:ext cx="0" cy="0"/>
          <a:chOff x="0" y="0"/>
          <a:chExt cx="0" cy="0"/>
        </a:xfrm>
      </p:grpSpPr>
      <p:sp>
        <p:nvSpPr>
          <p:cNvPr id="38" name="Google Shape;38;p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00"/>
              </a:spcBef>
              <a:spcAft>
                <a:spcPts val="0"/>
              </a:spcAft>
              <a:buClr>
                <a:srgbClr val="101141"/>
              </a:buClr>
              <a:buSzPts val="2000"/>
              <a:buFont typeface="Arial"/>
              <a:buNone/>
              <a:defRPr sz="2000">
                <a:latin typeface="Arial"/>
                <a:ea typeface="Arial"/>
                <a:cs typeface="Arial"/>
                <a:sym typeface="Arial"/>
              </a:defRPr>
            </a:lvl1pPr>
            <a:lvl2pPr marL="914400" marR="0" lvl="1" indent="-355600" algn="l">
              <a:lnSpc>
                <a:spcPct val="100000"/>
              </a:lnSpc>
              <a:spcBef>
                <a:spcPts val="400"/>
              </a:spcBef>
              <a:spcAft>
                <a:spcPts val="0"/>
              </a:spcAft>
              <a:buClr>
                <a:schemeClr val="dk1"/>
              </a:buClr>
              <a:buSzPts val="2000"/>
              <a:buFont typeface="Arial"/>
              <a:buChar char="–"/>
              <a:defRPr sz="2000">
                <a:latin typeface="Arial"/>
                <a:ea typeface="Arial"/>
                <a:cs typeface="Arial"/>
                <a:sym typeface="Arial"/>
              </a:defRPr>
            </a:lvl2pPr>
            <a:lvl3pPr marL="1371600" lvl="2" indent="-355600" algn="l">
              <a:lnSpc>
                <a:spcPct val="100000"/>
              </a:lnSpc>
              <a:spcBef>
                <a:spcPts val="400"/>
              </a:spcBef>
              <a:spcAft>
                <a:spcPts val="0"/>
              </a:spcAft>
              <a:buClr>
                <a:schemeClr val="dk1"/>
              </a:buClr>
              <a:buSzPts val="2000"/>
              <a:buChar char="•"/>
              <a:defRPr sz="20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0070C0"/>
              </a:buClr>
              <a:buSzPts val="3600"/>
              <a:buNone/>
              <a:defRPr sz="3600" b="1">
                <a:solidFill>
                  <a:srgbClr val="0070C0"/>
                </a:solidFill>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68"/>
        <p:cNvGrpSpPr/>
        <p:nvPr/>
      </p:nvGrpSpPr>
      <p:grpSpPr>
        <a:xfrm>
          <a:off x="0" y="0"/>
          <a:ext cx="0" cy="0"/>
          <a:chOff x="0" y="0"/>
          <a:chExt cx="0" cy="0"/>
        </a:xfrm>
      </p:grpSpPr>
      <p:sp>
        <p:nvSpPr>
          <p:cNvPr id="69" name="Google Shape;69;p9"/>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3"/>
        <p:cNvGrpSpPr/>
        <p:nvPr/>
      </p:nvGrpSpPr>
      <p:grpSpPr>
        <a:xfrm>
          <a:off x="0" y="0"/>
          <a:ext cx="0" cy="0"/>
          <a:chOff x="0" y="0"/>
          <a:chExt cx="0" cy="0"/>
        </a:xfrm>
      </p:grpSpPr>
      <p:sp>
        <p:nvSpPr>
          <p:cNvPr id="84" name="Google Shape;84;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5" name="Google Shape;85;p11"/>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6" name="Google Shape;86;p11"/>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00"/>
        <p:cNvGrpSpPr/>
        <p:nvPr/>
      </p:nvGrpSpPr>
      <p:grpSpPr>
        <a:xfrm>
          <a:off x="0" y="0"/>
          <a:ext cx="0" cy="0"/>
          <a:chOff x="0" y="0"/>
          <a:chExt cx="0" cy="0"/>
        </a:xfrm>
      </p:grpSpPr>
      <p:sp>
        <p:nvSpPr>
          <p:cNvPr id="101" name="Google Shape;101;p13"/>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2" name="Google Shape;102;p13"/>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3" name="Google Shape;103;p13"/>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4" name="Google Shape;104;p13"/>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5" name="Google Shape;105;p13"/>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19"/>
        <p:cNvGrpSpPr/>
        <p:nvPr/>
      </p:nvGrpSpPr>
      <p:grpSpPr>
        <a:xfrm>
          <a:off x="0" y="0"/>
          <a:ext cx="0" cy="0"/>
          <a:chOff x="0" y="0"/>
          <a:chExt cx="0" cy="0"/>
        </a:xfrm>
      </p:grpSpPr>
      <p:sp>
        <p:nvSpPr>
          <p:cNvPr id="120" name="Google Shape;120;p1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4"/>
        <p:cNvGrpSpPr/>
        <p:nvPr/>
      </p:nvGrpSpPr>
      <p:grpSpPr>
        <a:xfrm>
          <a:off x="0" y="0"/>
          <a:ext cx="0" cy="0"/>
          <a:chOff x="0" y="0"/>
          <a:chExt cx="0" cy="0"/>
        </a:xfrm>
      </p:grpSpPr>
      <p:sp>
        <p:nvSpPr>
          <p:cNvPr id="135" name="Google Shape;135;p17"/>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36" name="Google Shape;136;p17"/>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7" name="Google Shape;137;p17"/>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8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19"/>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154" name="Google Shape;154;p19"/>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55" name="Google Shape;155;p19"/>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69"/>
        <p:cNvGrpSpPr/>
        <p:nvPr/>
      </p:nvGrpSpPr>
      <p:grpSpPr>
        <a:xfrm>
          <a:off x="0" y="0"/>
          <a:ext cx="0" cy="0"/>
          <a:chOff x="0" y="0"/>
          <a:chExt cx="0" cy="0"/>
        </a:xfrm>
      </p:grpSpPr>
      <p:sp>
        <p:nvSpPr>
          <p:cNvPr id="170" name="Google Shape;170;p21"/>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1" name="Google Shape;171;p2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81"/>
        <p:cNvGrpSpPr/>
        <p:nvPr/>
      </p:nvGrpSpPr>
      <p:grpSpPr>
        <a:xfrm>
          <a:off x="0" y="0"/>
          <a:ext cx="0" cy="0"/>
          <a:chOff x="0" y="0"/>
          <a:chExt cx="0" cy="0"/>
        </a:xfrm>
      </p:grpSpPr>
      <p:sp>
        <p:nvSpPr>
          <p:cNvPr id="182" name="Google Shape;182;p23"/>
          <p:cNvSpPr txBox="1">
            <a:spLocks noGrp="1"/>
          </p:cNvSpPr>
          <p:nvPr>
            <p:ph type="body" idx="1"/>
          </p:nvPr>
        </p:nvSpPr>
        <p:spPr>
          <a:xfrm rot="5400000">
            <a:off x="1303338" y="296863"/>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3" name="Google Shape;183;p23"/>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3.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5.xml"/><Relationship Id="rId1" Type="http://schemas.openxmlformats.org/officeDocument/2006/relationships/slideLayout" Target="../slideLayouts/slideLayout4.xml"/><Relationship Id="rId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6.xml"/><Relationship Id="rId1" Type="http://schemas.openxmlformats.org/officeDocument/2006/relationships/slideLayout" Target="../slideLayouts/slideLayout5.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6.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1.xml"/><Relationship Id="rId1" Type="http://schemas.openxmlformats.org/officeDocument/2006/relationships/slideLayout" Target="../slideLayouts/slideLayout1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1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1"/>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1"/>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1"/>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4" name="Google Shape;14;p1" descr="BITS_university_logo_whitevert.png"/>
          <p:cNvPicPr preferRelativeResize="0"/>
          <p:nvPr/>
        </p:nvPicPr>
        <p:blipFill rotWithShape="1">
          <a:blip r:embed="rId4">
            <a:alphaModFix/>
          </a:blip>
          <a:srcRect/>
          <a:stretch/>
        </p:blipFill>
        <p:spPr>
          <a:xfrm>
            <a:off x="76200" y="3352800"/>
            <a:ext cx="2057400" cy="1979612"/>
          </a:xfrm>
          <a:prstGeom prst="rect">
            <a:avLst/>
          </a:prstGeom>
          <a:noFill/>
          <a:ln>
            <a:noFill/>
          </a:ln>
        </p:spPr>
      </p:pic>
      <p:sp>
        <p:nvSpPr>
          <p:cNvPr id="15" name="Google Shape;15;p1"/>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strike="noStrike" cap="none">
                <a:solidFill>
                  <a:schemeClr val="lt1"/>
                </a:solidFill>
                <a:latin typeface="Arial"/>
                <a:ea typeface="Arial"/>
                <a:cs typeface="Arial"/>
                <a:sym typeface="Arial"/>
              </a:rPr>
              <a:t>BITS</a:t>
            </a:r>
            <a:r>
              <a:rPr lang="en-US"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 name="Google Shape;1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7" name="Google Shape;1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grpSp>
        <p:nvGrpSpPr>
          <p:cNvPr id="22" name="Google Shape;22;p3"/>
          <p:cNvGrpSpPr/>
          <p:nvPr/>
        </p:nvGrpSpPr>
        <p:grpSpPr>
          <a:xfrm>
            <a:off x="2084387" y="6550025"/>
            <a:ext cx="7059612" cy="49212"/>
            <a:chOff x="2083888" y="6550671"/>
            <a:chExt cx="7060112" cy="48665"/>
          </a:xfrm>
        </p:grpSpPr>
        <p:sp>
          <p:nvSpPr>
            <p:cNvPr id="23" name="Google Shape;23;p3"/>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3"/>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3"/>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6" name="Google Shape;26;p3"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grpSp>
        <p:nvGrpSpPr>
          <p:cNvPr id="27" name="Google Shape;27;p3"/>
          <p:cNvGrpSpPr/>
          <p:nvPr/>
        </p:nvGrpSpPr>
        <p:grpSpPr>
          <a:xfrm>
            <a:off x="2133600" y="6553200"/>
            <a:ext cx="7010400" cy="46037"/>
            <a:chOff x="1905000" y="6553200"/>
            <a:chExt cx="7010400" cy="45719"/>
          </a:xfrm>
        </p:grpSpPr>
        <p:sp>
          <p:nvSpPr>
            <p:cNvPr id="28" name="Google Shape;28;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1" name="Google Shape;31;p3"/>
          <p:cNvGrpSpPr/>
          <p:nvPr/>
        </p:nvGrpSpPr>
        <p:grpSpPr>
          <a:xfrm>
            <a:off x="0" y="1295400"/>
            <a:ext cx="7010400" cy="46037"/>
            <a:chOff x="1905000" y="6553200"/>
            <a:chExt cx="7010400" cy="45719"/>
          </a:xfrm>
        </p:grpSpPr>
        <p:sp>
          <p:nvSpPr>
            <p:cNvPr id="32" name="Google Shape;32;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 name="Google Shape;33;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 name="Google Shape;34;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 name="Google Shape;35;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36" name="Google Shape;36;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42" name="Google Shape;42;p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
        <p:cNvGrpSpPr/>
        <p:nvPr/>
      </p:nvGrpSpPr>
      <p:grpSpPr>
        <a:xfrm>
          <a:off x="0" y="0"/>
          <a:ext cx="0" cy="0"/>
          <a:chOff x="0" y="0"/>
          <a:chExt cx="0" cy="0"/>
        </a:xfrm>
      </p:grpSpPr>
      <p:sp>
        <p:nvSpPr>
          <p:cNvPr id="47" name="Google Shape;47;p6"/>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8" name="Google Shape;48;p6"/>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9" name="Google Shape;49;p6"/>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0" name="Google Shape;50;p6"/>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51" name="Google Shape;51;p6" descr="BITS_university_logo_whitevert.png"/>
          <p:cNvPicPr preferRelativeResize="0"/>
          <p:nvPr/>
        </p:nvPicPr>
        <p:blipFill rotWithShape="1">
          <a:blip r:embed="rId4">
            <a:alphaModFix/>
          </a:blip>
          <a:srcRect/>
          <a:stretch/>
        </p:blipFill>
        <p:spPr>
          <a:xfrm>
            <a:off x="76200" y="3352800"/>
            <a:ext cx="2057400" cy="1979612"/>
          </a:xfrm>
          <a:prstGeom prst="rect">
            <a:avLst/>
          </a:prstGeom>
          <a:noFill/>
          <a:ln>
            <a:noFill/>
          </a:ln>
        </p:spPr>
      </p:pic>
      <p:sp>
        <p:nvSpPr>
          <p:cNvPr id="52" name="Google Shape;52;p6"/>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strike="noStrike" cap="none">
                <a:solidFill>
                  <a:schemeClr val="lt1"/>
                </a:solidFill>
                <a:latin typeface="Arial"/>
                <a:ea typeface="Arial"/>
                <a:cs typeface="Arial"/>
                <a:sym typeface="Arial"/>
              </a:rPr>
              <a:t>BITS</a:t>
            </a:r>
            <a:r>
              <a:rPr lang="en-US"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53" name="Google Shape;53;p6"/>
          <p:cNvSpPr txBox="1"/>
          <p:nvPr/>
        </p:nvSpPr>
        <p:spPr>
          <a:xfrm>
            <a:off x="152400" y="5667375"/>
            <a:ext cx="1905000" cy="2762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Hyderabad Campus</a:t>
            </a:r>
            <a:endParaRPr sz="1400" b="0" i="0" u="none" strike="noStrike" cap="none">
              <a:solidFill>
                <a:srgbClr val="000000"/>
              </a:solidFill>
              <a:latin typeface="Arial"/>
              <a:ea typeface="Arial"/>
              <a:cs typeface="Arial"/>
              <a:sym typeface="Arial"/>
            </a:endParaRPr>
          </a:p>
        </p:txBody>
      </p:sp>
      <p:sp>
        <p:nvSpPr>
          <p:cNvPr id="54" name="Google Shape;54;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55" name="Google Shape;55;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pic>
        <p:nvPicPr>
          <p:cNvPr id="59" name="Google Shape;59;p8" descr="\\Server\D\jyoti\FI023_BITS_v1\styleguide img\IMG_5627_b.jpg"/>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60" name="Google Shape;60;p8"/>
          <p:cNvSpPr txBox="1"/>
          <p:nvPr/>
        </p:nvSpPr>
        <p:spPr>
          <a:xfrm>
            <a:off x="0" y="4281487"/>
            <a:ext cx="9144000" cy="2576512"/>
          </a:xfrm>
          <a:prstGeom prst="rect">
            <a:avLst/>
          </a:prstGeom>
          <a:solidFill>
            <a:schemeClr val="lt1"/>
          </a:solidFill>
          <a:ln w="9525" cap="flat" cmpd="sng">
            <a:solidFill>
              <a:srgbClr val="4A7EBB"/>
            </a:solidFill>
            <a:prstDash val="solid"/>
            <a:miter lim="800000"/>
            <a:headEnd type="none" w="sm" len="sm"/>
            <a:tailEnd type="none" w="sm" len="sm"/>
          </a:ln>
          <a:effectLst>
            <a:outerShdw blurRad="63500" dist="23000" dir="5400000">
              <a:srgbClr val="000000">
                <a:alpha val="3411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61" name="Google Shape;61;p8" descr="Picture 7.png"/>
          <p:cNvPicPr preferRelativeResize="0"/>
          <p:nvPr/>
        </p:nvPicPr>
        <p:blipFill rotWithShape="1">
          <a:blip r:embed="rId4">
            <a:alphaModFix/>
          </a:blip>
          <a:srcRect/>
          <a:stretch/>
        </p:blipFill>
        <p:spPr>
          <a:xfrm>
            <a:off x="6629400" y="0"/>
            <a:ext cx="2193925" cy="692150"/>
          </a:xfrm>
          <a:prstGeom prst="rect">
            <a:avLst/>
          </a:prstGeom>
          <a:noFill/>
          <a:ln>
            <a:noFill/>
          </a:ln>
        </p:spPr>
      </p:pic>
      <p:sp>
        <p:nvSpPr>
          <p:cNvPr id="62" name="Google Shape;62;p8"/>
          <p:cNvSpPr txBox="1"/>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 name="Google Shape;63;p8"/>
          <p:cNvSpPr txBox="1"/>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 name="Google Shape;64;p8"/>
          <p:cNvSpPr txBox="1"/>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 name="Google Shape;65;p8"/>
          <p:cNvSpPr txBox="1"/>
          <p:nvPr/>
        </p:nvSpPr>
        <p:spPr>
          <a:xfrm>
            <a:off x="6858000" y="7620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strike="noStrike" cap="none">
                <a:solidFill>
                  <a:schemeClr val="lt1"/>
                </a:solidFill>
                <a:latin typeface="Arial"/>
                <a:ea typeface="Arial"/>
                <a:cs typeface="Arial"/>
                <a:sym typeface="Arial"/>
              </a:rPr>
              <a:t>BITS</a:t>
            </a:r>
            <a:r>
              <a:rPr lang="en-US"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66" name="Google Shape;66;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67" name="Google Shape;67;p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pic>
        <p:nvPicPr>
          <p:cNvPr id="71" name="Google Shape;71;p10"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grpSp>
        <p:nvGrpSpPr>
          <p:cNvPr id="72" name="Google Shape;72;p10"/>
          <p:cNvGrpSpPr/>
          <p:nvPr/>
        </p:nvGrpSpPr>
        <p:grpSpPr>
          <a:xfrm>
            <a:off x="0" y="1295400"/>
            <a:ext cx="7010400" cy="46037"/>
            <a:chOff x="1905000" y="6553200"/>
            <a:chExt cx="7010400" cy="45719"/>
          </a:xfrm>
        </p:grpSpPr>
        <p:sp>
          <p:nvSpPr>
            <p:cNvPr id="73" name="Google Shape;73;p1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4" name="Google Shape;74;p1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 name="Google Shape;75;p1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76" name="Google Shape;76;p10"/>
          <p:cNvGrpSpPr/>
          <p:nvPr/>
        </p:nvGrpSpPr>
        <p:grpSpPr>
          <a:xfrm>
            <a:off x="2133600" y="6553200"/>
            <a:ext cx="7010400" cy="46037"/>
            <a:chOff x="1905000" y="6553200"/>
            <a:chExt cx="7010400" cy="45719"/>
          </a:xfrm>
        </p:grpSpPr>
        <p:sp>
          <p:nvSpPr>
            <p:cNvPr id="77" name="Google Shape;77;p1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 name="Google Shape;78;p1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 name="Google Shape;79;p1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80" name="Google Shape;80;p10"/>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81" name="Google Shape;81;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82" name="Google Shape;82;p1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grpSp>
        <p:nvGrpSpPr>
          <p:cNvPr id="88" name="Google Shape;88;p12"/>
          <p:cNvGrpSpPr/>
          <p:nvPr/>
        </p:nvGrpSpPr>
        <p:grpSpPr>
          <a:xfrm>
            <a:off x="0" y="1295400"/>
            <a:ext cx="7010400" cy="46037"/>
            <a:chOff x="1905000" y="6553200"/>
            <a:chExt cx="7010400" cy="45719"/>
          </a:xfrm>
        </p:grpSpPr>
        <p:sp>
          <p:nvSpPr>
            <p:cNvPr id="89" name="Google Shape;89;p12"/>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 name="Google Shape;90;p12"/>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 name="Google Shape;91;p12"/>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92" name="Google Shape;92;p12"/>
          <p:cNvGrpSpPr/>
          <p:nvPr/>
        </p:nvGrpSpPr>
        <p:grpSpPr>
          <a:xfrm>
            <a:off x="2133600" y="6553200"/>
            <a:ext cx="7010400" cy="46037"/>
            <a:chOff x="1905000" y="6553200"/>
            <a:chExt cx="7010400" cy="45719"/>
          </a:xfrm>
        </p:grpSpPr>
        <p:sp>
          <p:nvSpPr>
            <p:cNvPr id="93" name="Google Shape;93;p12"/>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2"/>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 name="Google Shape;95;p12"/>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96" name="Google Shape;96;p12"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97" name="Google Shape;97;p12"/>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98" name="Google Shape;98;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99" name="Google Shape;99;p1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grpSp>
        <p:nvGrpSpPr>
          <p:cNvPr id="107" name="Google Shape;107;p14"/>
          <p:cNvGrpSpPr/>
          <p:nvPr/>
        </p:nvGrpSpPr>
        <p:grpSpPr>
          <a:xfrm>
            <a:off x="0" y="1295400"/>
            <a:ext cx="7010400" cy="46037"/>
            <a:chOff x="1905000" y="6553200"/>
            <a:chExt cx="7010400" cy="45719"/>
          </a:xfrm>
        </p:grpSpPr>
        <p:sp>
          <p:nvSpPr>
            <p:cNvPr id="108" name="Google Shape;108;p14"/>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 name="Google Shape;109;p14"/>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 name="Google Shape;110;p14"/>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11" name="Google Shape;111;p14"/>
          <p:cNvGrpSpPr/>
          <p:nvPr/>
        </p:nvGrpSpPr>
        <p:grpSpPr>
          <a:xfrm>
            <a:off x="2133600" y="6553200"/>
            <a:ext cx="7010400" cy="46037"/>
            <a:chOff x="1905000" y="6553200"/>
            <a:chExt cx="7010400" cy="45719"/>
          </a:xfrm>
        </p:grpSpPr>
        <p:sp>
          <p:nvSpPr>
            <p:cNvPr id="112" name="Google Shape;112;p14"/>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 name="Google Shape;113;p14"/>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4" name="Google Shape;114;p14"/>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15" name="Google Shape;115;p14"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16" name="Google Shape;116;p14"/>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17" name="Google Shape;117;p1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18" name="Google Shape;118;p1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grpSp>
        <p:nvGrpSpPr>
          <p:cNvPr id="122" name="Google Shape;122;p16"/>
          <p:cNvGrpSpPr/>
          <p:nvPr/>
        </p:nvGrpSpPr>
        <p:grpSpPr>
          <a:xfrm>
            <a:off x="0" y="1295400"/>
            <a:ext cx="7010400" cy="46037"/>
            <a:chOff x="1905000" y="6553200"/>
            <a:chExt cx="7010400" cy="45719"/>
          </a:xfrm>
        </p:grpSpPr>
        <p:sp>
          <p:nvSpPr>
            <p:cNvPr id="123" name="Google Shape;123;p16"/>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4" name="Google Shape;124;p16"/>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5" name="Google Shape;125;p16"/>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26" name="Google Shape;126;p16"/>
          <p:cNvGrpSpPr/>
          <p:nvPr/>
        </p:nvGrpSpPr>
        <p:grpSpPr>
          <a:xfrm>
            <a:off x="2133600" y="6553200"/>
            <a:ext cx="7010400" cy="46037"/>
            <a:chOff x="1905000" y="6553200"/>
            <a:chExt cx="7010400" cy="45719"/>
          </a:xfrm>
        </p:grpSpPr>
        <p:sp>
          <p:nvSpPr>
            <p:cNvPr id="127" name="Google Shape;127;p16"/>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p16"/>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9" name="Google Shape;129;p16"/>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30" name="Google Shape;130;p16"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31" name="Google Shape;131;p16"/>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32" name="Google Shape;132;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33" name="Google Shape;133;p1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grpSp>
        <p:nvGrpSpPr>
          <p:cNvPr id="139" name="Google Shape;139;p18"/>
          <p:cNvGrpSpPr/>
          <p:nvPr/>
        </p:nvGrpSpPr>
        <p:grpSpPr>
          <a:xfrm>
            <a:off x="0" y="1295400"/>
            <a:ext cx="7010400" cy="46037"/>
            <a:chOff x="1905000" y="6553200"/>
            <a:chExt cx="7010400" cy="45719"/>
          </a:xfrm>
        </p:grpSpPr>
        <p:sp>
          <p:nvSpPr>
            <p:cNvPr id="140" name="Google Shape;140;p18"/>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 name="Google Shape;141;p18"/>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 name="Google Shape;142;p18"/>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43" name="Google Shape;143;p18"/>
          <p:cNvGrpSpPr/>
          <p:nvPr/>
        </p:nvGrpSpPr>
        <p:grpSpPr>
          <a:xfrm>
            <a:off x="2133600" y="6553200"/>
            <a:ext cx="7010400" cy="46037"/>
            <a:chOff x="1905000" y="6553200"/>
            <a:chExt cx="7010400" cy="45719"/>
          </a:xfrm>
        </p:grpSpPr>
        <p:sp>
          <p:nvSpPr>
            <p:cNvPr id="144" name="Google Shape;144;p18"/>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 name="Google Shape;145;p18"/>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 name="Google Shape;146;p18"/>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47" name="Google Shape;147;p18"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48" name="Google Shape;148;p18"/>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49" name="Google Shape;149;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50" name="Google Shape;150;p1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grpSp>
        <p:nvGrpSpPr>
          <p:cNvPr id="157" name="Google Shape;157;p20"/>
          <p:cNvGrpSpPr/>
          <p:nvPr/>
        </p:nvGrpSpPr>
        <p:grpSpPr>
          <a:xfrm>
            <a:off x="0" y="1295400"/>
            <a:ext cx="7010400" cy="46037"/>
            <a:chOff x="1905000" y="6553200"/>
            <a:chExt cx="7010400" cy="45719"/>
          </a:xfrm>
        </p:grpSpPr>
        <p:sp>
          <p:nvSpPr>
            <p:cNvPr id="158" name="Google Shape;158;p2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9" name="Google Shape;159;p2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0" name="Google Shape;160;p2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61" name="Google Shape;161;p20"/>
          <p:cNvGrpSpPr/>
          <p:nvPr/>
        </p:nvGrpSpPr>
        <p:grpSpPr>
          <a:xfrm>
            <a:off x="2133600" y="6553200"/>
            <a:ext cx="7010400" cy="46037"/>
            <a:chOff x="1905000" y="6553200"/>
            <a:chExt cx="7010400" cy="45719"/>
          </a:xfrm>
        </p:grpSpPr>
        <p:sp>
          <p:nvSpPr>
            <p:cNvPr id="162" name="Google Shape;162;p2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3" name="Google Shape;163;p2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4" name="Google Shape;164;p2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65" name="Google Shape;165;p20"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66" name="Google Shape;166;p20"/>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67" name="Google Shape;167;p2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68" name="Google Shape;168;p2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2"/>
        <p:cNvGrpSpPr/>
        <p:nvPr/>
      </p:nvGrpSpPr>
      <p:grpSpPr>
        <a:xfrm>
          <a:off x="0" y="0"/>
          <a:ext cx="0" cy="0"/>
          <a:chOff x="0" y="0"/>
          <a:chExt cx="0" cy="0"/>
        </a:xfrm>
      </p:grpSpPr>
      <p:grpSp>
        <p:nvGrpSpPr>
          <p:cNvPr id="173" name="Google Shape;173;p22"/>
          <p:cNvGrpSpPr/>
          <p:nvPr/>
        </p:nvGrpSpPr>
        <p:grpSpPr>
          <a:xfrm rot="5400000">
            <a:off x="5006182" y="2567781"/>
            <a:ext cx="5181600" cy="46037"/>
            <a:chOff x="1905000" y="6553200"/>
            <a:chExt cx="7010400" cy="45719"/>
          </a:xfrm>
        </p:grpSpPr>
        <p:sp>
          <p:nvSpPr>
            <p:cNvPr id="174" name="Google Shape;174;p22"/>
            <p:cNvSpPr txBox="1"/>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5" name="Google Shape;175;p22"/>
            <p:cNvSpPr txBox="1"/>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6" name="Google Shape;176;p22"/>
            <p:cNvSpPr txBox="1"/>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77" name="Google Shape;177;p22" descr="Picture 7.png"/>
          <p:cNvPicPr preferRelativeResize="0"/>
          <p:nvPr/>
        </p:nvPicPr>
        <p:blipFill rotWithShape="1">
          <a:blip r:embed="rId3">
            <a:alphaModFix/>
          </a:blip>
          <a:srcRect/>
          <a:stretch/>
        </p:blipFill>
        <p:spPr>
          <a:xfrm>
            <a:off x="-7937" y="381000"/>
            <a:ext cx="692150" cy="2193925"/>
          </a:xfrm>
          <a:prstGeom prst="rect">
            <a:avLst/>
          </a:prstGeom>
          <a:noFill/>
          <a:ln>
            <a:noFill/>
          </a:ln>
        </p:spPr>
      </p:pic>
      <p:sp>
        <p:nvSpPr>
          <p:cNvPr id="178" name="Google Shape;178;p22"/>
          <p:cNvSpPr txBox="1"/>
          <p:nvPr/>
        </p:nvSpPr>
        <p:spPr>
          <a:xfrm rot="5400000">
            <a:off x="-2794793" y="3809206"/>
            <a:ext cx="5867400" cy="23018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900"/>
              <a:buFont typeface="Arial"/>
              <a:buNone/>
            </a:pPr>
            <a:r>
              <a:rPr lang="en-US" sz="900" b="1" i="0" u="none" strike="noStrike" cap="none">
                <a:solidFill>
                  <a:srgbClr val="101141"/>
                </a:solidFill>
                <a:latin typeface="Arial"/>
                <a:ea typeface="Arial"/>
                <a:cs typeface="Arial"/>
                <a:sym typeface="Arial"/>
              </a:rPr>
              <a:t>BITS </a:t>
            </a:r>
            <a:r>
              <a:rPr lang="en-US" sz="9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79" name="Google Shape;179;p2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80" name="Google Shape;180;p2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3" name="Title 2">
            <a:extLst>
              <a:ext uri="{FF2B5EF4-FFF2-40B4-BE49-F238E27FC236}">
                <a16:creationId xmlns:a16="http://schemas.microsoft.com/office/drawing/2014/main" id="{201F6DD6-1D46-BCFF-DDC6-A77CE6CF424D}"/>
              </a:ext>
            </a:extLst>
          </p:cNvPr>
          <p:cNvSpPr>
            <a:spLocks noGrp="1"/>
          </p:cNvSpPr>
          <p:nvPr>
            <p:ph type="title"/>
          </p:nvPr>
        </p:nvSpPr>
        <p:spPr>
          <a:xfrm>
            <a:off x="2514600" y="3333308"/>
            <a:ext cx="6161567" cy="1302488"/>
          </a:xfrm>
        </p:spPr>
        <p:txBody>
          <a:bodyPr/>
          <a:lstStyle/>
          <a:p>
            <a:r>
              <a:rPr lang="en-US" sz="3600" dirty="0"/>
              <a:t>SSZG622 Software Project Management</a:t>
            </a:r>
            <a:endParaRPr lang="en-US" sz="3600" b="0" dirty="0"/>
          </a:p>
        </p:txBody>
      </p:sp>
      <p:sp>
        <p:nvSpPr>
          <p:cNvPr id="5" name="Text Placeholder 4">
            <a:extLst>
              <a:ext uri="{FF2B5EF4-FFF2-40B4-BE49-F238E27FC236}">
                <a16:creationId xmlns:a16="http://schemas.microsoft.com/office/drawing/2014/main" id="{A3D15283-0FB8-1307-DC57-82CF457B90B8}"/>
              </a:ext>
            </a:extLst>
          </p:cNvPr>
          <p:cNvSpPr>
            <a:spLocks noGrp="1"/>
          </p:cNvSpPr>
          <p:nvPr>
            <p:ph type="body" idx="1"/>
          </p:nvPr>
        </p:nvSpPr>
        <p:spPr>
          <a:xfrm>
            <a:off x="2514600" y="4986670"/>
            <a:ext cx="6019800" cy="956930"/>
          </a:xfrm>
        </p:spPr>
        <p:txBody>
          <a:bodyPr/>
          <a:lstStyle/>
          <a:p>
            <a:r>
              <a:rPr lang="en-US" sz="2800" dirty="0"/>
              <a:t>2025-26 First Semester</a:t>
            </a:r>
            <a:endParaRPr lang="en-IN" sz="2800" dirty="0"/>
          </a:p>
          <a:p>
            <a:r>
              <a:rPr lang="en-IN" sz="2800" dirty="0"/>
              <a:t>Individual Assignment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157177"/>
            <a:ext cx="9144000" cy="5243622"/>
          </a:xfrm>
        </p:spPr>
        <p:txBody>
          <a:bodyPr/>
          <a:lstStyle/>
          <a:p>
            <a:endParaRPr lang="en-IN" sz="2400" b="1" dirty="0">
              <a:solidFill>
                <a:srgbClr val="0070C0"/>
              </a:solidFill>
            </a:endParaRPr>
          </a:p>
          <a:p>
            <a:r>
              <a:rPr lang="en-IN" sz="2400" b="1" dirty="0">
                <a:solidFill>
                  <a:srgbClr val="0070C0"/>
                </a:solidFill>
              </a:rPr>
              <a:t>Topic	</a:t>
            </a:r>
            <a:r>
              <a:rPr lang="en-IN" sz="2400" dirty="0"/>
              <a:t>: Schedule Management and Planning</a:t>
            </a:r>
          </a:p>
          <a:p>
            <a:r>
              <a:rPr lang="en-IN" sz="2400" b="1" dirty="0">
                <a:solidFill>
                  <a:srgbClr val="0070C0"/>
                </a:solidFill>
              </a:rPr>
              <a:t>Name	</a:t>
            </a:r>
            <a:r>
              <a:rPr lang="en-IN" sz="2400" dirty="0"/>
              <a:t>: Harmalkar Rahul Rajan Sayali</a:t>
            </a:r>
          </a:p>
          <a:p>
            <a:r>
              <a:rPr lang="en-IN" sz="2400" b="1" dirty="0">
                <a:solidFill>
                  <a:srgbClr val="0070C0"/>
                </a:solidFill>
              </a:rPr>
              <a:t>Student</a:t>
            </a:r>
            <a:r>
              <a:rPr lang="en-IN" sz="2400" dirty="0"/>
              <a:t> </a:t>
            </a:r>
            <a:r>
              <a:rPr lang="en-IN" sz="2400" b="1" dirty="0">
                <a:solidFill>
                  <a:srgbClr val="0070C0"/>
                </a:solidFill>
              </a:rPr>
              <a:t>ID</a:t>
            </a:r>
            <a:r>
              <a:rPr lang="en-IN" sz="2400" dirty="0">
                <a:solidFill>
                  <a:srgbClr val="0070C0"/>
                </a:solidFill>
              </a:rPr>
              <a:t>	</a:t>
            </a:r>
            <a:r>
              <a:rPr lang="en-IN" sz="2400" dirty="0"/>
              <a:t>: 2024TM93073</a:t>
            </a:r>
          </a:p>
          <a:p>
            <a:endParaRPr lang="en-IN" sz="2400" dirty="0"/>
          </a:p>
          <a:p>
            <a:r>
              <a:rPr lang="en-US" dirty="0"/>
              <a:t>	I certify that this report submitted towards the Software Project Management course assignment is my own work. I also certify that I have not copied the work of other students or the material from any other sources (books, online documents, etc.).</a:t>
            </a:r>
            <a:endParaRPr lang="en-US" sz="2400" dirty="0"/>
          </a:p>
          <a:p>
            <a:r>
              <a:rPr lang="en-US" dirty="0"/>
              <a:t>	I understand that if this report scores a similarity score above 25%, zero marks will be awarded for this assignment.</a:t>
            </a:r>
          </a:p>
          <a:p>
            <a:endParaRPr lang="en-US" sz="2400" dirty="0"/>
          </a:p>
          <a:p>
            <a:pPr marL="3771900" lvl="8" indent="0">
              <a:buNone/>
            </a:pPr>
            <a:r>
              <a:rPr lang="en-US" dirty="0"/>
              <a:t>		Harmalkar Rahul Rajan Sayali</a:t>
            </a:r>
            <a:br>
              <a:rPr lang="en-US" dirty="0"/>
            </a:br>
            <a:r>
              <a:rPr lang="en-US" dirty="0"/>
              <a:t>		           2024TM93073</a:t>
            </a:r>
            <a:endParaRPr lang="en-I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3" name="Text Placeholder 2">
            <a:extLst>
              <a:ext uri="{FF2B5EF4-FFF2-40B4-BE49-F238E27FC236}">
                <a16:creationId xmlns:a16="http://schemas.microsoft.com/office/drawing/2014/main" id="{39DAD0E6-D877-0DA2-7802-2C5B03EFB422}"/>
              </a:ext>
            </a:extLst>
          </p:cNvPr>
          <p:cNvSpPr>
            <a:spLocks noGrp="1"/>
          </p:cNvSpPr>
          <p:nvPr>
            <p:ph type="body" idx="2"/>
          </p:nvPr>
        </p:nvSpPr>
        <p:spPr/>
        <p:txBody>
          <a:bodyPr/>
          <a:lstStyle/>
          <a:p>
            <a:r>
              <a:rPr lang="en-IN" dirty="0"/>
              <a:t>Executive Summary</a:t>
            </a:r>
            <a:endParaRPr lang="en-US" dirty="0"/>
          </a:p>
        </p:txBody>
      </p:sp>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295400"/>
            <a:ext cx="9144000" cy="5410199"/>
          </a:xfrm>
        </p:spPr>
        <p:txBody>
          <a:bodyPr/>
          <a:lstStyle/>
          <a:p>
            <a:pPr marL="514350" indent="-285750">
              <a:buFont typeface="Arial" panose="020B0604020202020204" pitchFamily="34" charset="0"/>
              <a:buChar char="•"/>
            </a:pPr>
            <a:r>
              <a:rPr lang="en-US" sz="1800" dirty="0"/>
              <a:t>This report reviews the role of </a:t>
            </a:r>
            <a:r>
              <a:rPr lang="en-US" sz="1800" b="1" dirty="0"/>
              <a:t>schedule management and planning </a:t>
            </a:r>
            <a:r>
              <a:rPr lang="en-US" sz="1800" dirty="0"/>
              <a:t>in a mid-sized IT services organization that delivered an enhancement project for a retail e-commerce client. </a:t>
            </a:r>
          </a:p>
          <a:p>
            <a:pPr marL="514350" indent="-285750">
              <a:buFont typeface="Arial" panose="020B0604020202020204" pitchFamily="34" charset="0"/>
              <a:buChar char="•"/>
            </a:pPr>
            <a:r>
              <a:rPr lang="en-US" sz="1800" dirty="0"/>
              <a:t>The project focused on upgrading the client’s order processing platform with improved scalability and seamless payment integration. </a:t>
            </a:r>
          </a:p>
          <a:p>
            <a:pPr marL="514350" indent="-285750">
              <a:buFont typeface="Arial" panose="020B0604020202020204" pitchFamily="34" charset="0"/>
              <a:buChar char="•"/>
            </a:pPr>
            <a:r>
              <a:rPr lang="en-US" sz="1800" dirty="0"/>
              <a:t>The project team used tools like Microsoft Project and sprint-based tracking to manage timelines. However, execution was affected by delays in client feedback, resource constraints, and overlooked interdependencies. These factors resulted in milestone shifts and additional coordination efforts. </a:t>
            </a:r>
          </a:p>
          <a:p>
            <a:pPr marL="514350" indent="-285750">
              <a:buFont typeface="Arial" panose="020B0604020202020204" pitchFamily="34" charset="0"/>
              <a:buChar char="•"/>
            </a:pPr>
            <a:r>
              <a:rPr lang="en-US" sz="1800" dirty="0"/>
              <a:t>Despite these difficulties, structured monitoring through dashboards and frequent review sessions enabled the team to regain partial control and finish the project with only minor overruns. The case highlights how estimation precision, stakeholder involvement, and proactive risk planning can significantly strengthen schedule adherence. </a:t>
            </a:r>
          </a:p>
          <a:p>
            <a:pPr marL="514350" indent="-285750">
              <a:buFont typeface="Arial" panose="020B0604020202020204" pitchFamily="34" charset="0"/>
              <a:buChar char="•"/>
            </a:pPr>
            <a:r>
              <a:rPr lang="en-US" sz="1800" dirty="0"/>
              <a:t>The findings emphasize the value of flexible scheduling approaches that combine structured planning with adaptive methods. Future initiatives can benefit from applying these practices to balance deadlines, resources, and client expectations more effectively.</a:t>
            </a:r>
            <a:endParaRPr lang="en-IN" sz="1800" dirty="0"/>
          </a:p>
        </p:txBody>
      </p:sp>
    </p:spTree>
    <p:extLst>
      <p:ext uri="{BB962C8B-B14F-4D97-AF65-F5344CB8AC3E}">
        <p14:creationId xmlns:p14="http://schemas.microsoft.com/office/powerpoint/2010/main" val="3051161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3" name="Text Placeholder 2">
            <a:extLst>
              <a:ext uri="{FF2B5EF4-FFF2-40B4-BE49-F238E27FC236}">
                <a16:creationId xmlns:a16="http://schemas.microsoft.com/office/drawing/2014/main" id="{39DAD0E6-D877-0DA2-7802-2C5B03EFB422}"/>
              </a:ext>
            </a:extLst>
          </p:cNvPr>
          <p:cNvSpPr>
            <a:spLocks noGrp="1"/>
          </p:cNvSpPr>
          <p:nvPr>
            <p:ph type="body" idx="2"/>
          </p:nvPr>
        </p:nvSpPr>
        <p:spPr/>
        <p:txBody>
          <a:bodyPr/>
          <a:lstStyle/>
          <a:p>
            <a:r>
              <a:rPr lang="en-IN" dirty="0"/>
              <a:t>Real-life Scenario</a:t>
            </a:r>
          </a:p>
        </p:txBody>
      </p:sp>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295400"/>
            <a:ext cx="9144000" cy="5637027"/>
          </a:xfrm>
        </p:spPr>
        <p:txBody>
          <a:bodyPr/>
          <a:lstStyle/>
          <a:p>
            <a:r>
              <a:rPr lang="en-US" sz="1800" b="1" dirty="0">
                <a:solidFill>
                  <a:srgbClr val="0070C0"/>
                </a:solidFill>
              </a:rPr>
              <a:t>Company Overview:</a:t>
            </a:r>
          </a:p>
          <a:p>
            <a:pPr marL="571500" indent="-342900">
              <a:buFont typeface="Arial" panose="020B0604020202020204" pitchFamily="34" charset="0"/>
              <a:buChar char="•"/>
            </a:pPr>
            <a:r>
              <a:rPr lang="en-US" sz="1800" dirty="0"/>
              <a:t>The case study is drawn from a mid-sized IT services provider (referred to as </a:t>
            </a:r>
            <a:r>
              <a:rPr lang="en-US" sz="1800" dirty="0" err="1"/>
              <a:t>TechNova</a:t>
            </a:r>
            <a:r>
              <a:rPr lang="en-US" sz="1800" dirty="0"/>
              <a:t> Solutions) with expertise in enterprise software delivery. </a:t>
            </a:r>
          </a:p>
          <a:p>
            <a:pPr marL="571500" indent="-342900">
              <a:buFont typeface="Arial" panose="020B0604020202020204" pitchFamily="34" charset="0"/>
              <a:buChar char="•"/>
            </a:pPr>
            <a:r>
              <a:rPr lang="en-US" sz="1800" dirty="0"/>
              <a:t>The company employs around 1,200 professionals and executes projects across sectors including retail, banking, and healthcare. </a:t>
            </a:r>
          </a:p>
          <a:p>
            <a:pPr marL="228600" indent="0"/>
            <a:r>
              <a:rPr lang="en-US" sz="1800" b="1" dirty="0">
                <a:solidFill>
                  <a:srgbClr val="0070C0"/>
                </a:solidFill>
              </a:rPr>
              <a:t>Project Description: </a:t>
            </a:r>
          </a:p>
          <a:p>
            <a:pPr marL="571500" indent="-342900">
              <a:buFont typeface="Arial" panose="020B0604020202020204" pitchFamily="34" charset="0"/>
              <a:buChar char="•"/>
            </a:pPr>
            <a:r>
              <a:rPr lang="en-US" sz="1800" dirty="0"/>
              <a:t>The selected project was </a:t>
            </a:r>
            <a:r>
              <a:rPr lang="en-US" sz="1800" b="1" dirty="0"/>
              <a:t>an e-commerce system enhancement </a:t>
            </a:r>
            <a:r>
              <a:rPr lang="en-US" sz="1800" dirty="0"/>
              <a:t>aimed at modernizing the client’s online ordering solution. </a:t>
            </a:r>
          </a:p>
          <a:p>
            <a:pPr marL="571500" indent="-342900">
              <a:buFont typeface="Arial" panose="020B0604020202020204" pitchFamily="34" charset="0"/>
              <a:buChar char="•"/>
            </a:pPr>
            <a:r>
              <a:rPr lang="en-US" sz="1800" dirty="0"/>
              <a:t>Major objectives included integrating secure payment gateways and enabling analytical dashboards for decision-making. </a:t>
            </a:r>
          </a:p>
          <a:p>
            <a:pPr marL="1143000" lvl="1" indent="-457200">
              <a:buFont typeface="+mj-lt"/>
              <a:buAutoNum type="arabicPeriod"/>
            </a:pPr>
            <a:r>
              <a:rPr lang="en-US" sz="1800" dirty="0"/>
              <a:t>Team Size: 35 (mix of developers, testers, analysts, and one project manager)</a:t>
            </a:r>
          </a:p>
          <a:p>
            <a:pPr marL="1143000" lvl="1" indent="-457200">
              <a:buFont typeface="+mj-lt"/>
              <a:buAutoNum type="arabicPeriod"/>
            </a:pPr>
            <a:r>
              <a:rPr lang="en-US" sz="1800" dirty="0"/>
              <a:t>Planned Duration: 8 months</a:t>
            </a:r>
          </a:p>
          <a:p>
            <a:pPr marL="1143000" lvl="1" indent="-457200">
              <a:buFont typeface="+mj-lt"/>
              <a:buAutoNum type="arabicPeriod"/>
            </a:pPr>
            <a:r>
              <a:rPr lang="en-US" sz="1800" dirty="0"/>
              <a:t>Delivery Approach: Hybrid Agile, combining upfront scheduling with sprint-based delivery</a:t>
            </a:r>
          </a:p>
          <a:p>
            <a:pPr marL="1143000" lvl="1" indent="-457200">
              <a:buFont typeface="+mj-lt"/>
              <a:buAutoNum type="arabicPeriod"/>
            </a:pPr>
            <a:r>
              <a:rPr lang="en-US" sz="1800" dirty="0"/>
              <a:t>Planned Milestones: Requirement freeze, sprint reviews, integration testing, UAT, and deployment</a:t>
            </a:r>
            <a:endParaRPr lang="en-IN" sz="1800" dirty="0"/>
          </a:p>
        </p:txBody>
      </p:sp>
    </p:spTree>
    <p:extLst>
      <p:ext uri="{BB962C8B-B14F-4D97-AF65-F5344CB8AC3E}">
        <p14:creationId xmlns:p14="http://schemas.microsoft.com/office/powerpoint/2010/main" val="23098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295400"/>
            <a:ext cx="9144000" cy="5410199"/>
          </a:xfrm>
        </p:spPr>
        <p:txBody>
          <a:bodyPr/>
          <a:lstStyle/>
          <a:p>
            <a:r>
              <a:rPr lang="en-IN" sz="1600" b="1" dirty="0">
                <a:solidFill>
                  <a:srgbClr val="0070C0"/>
                </a:solidFill>
              </a:rPr>
              <a:t>How Scheduling Was Applied</a:t>
            </a:r>
            <a:r>
              <a:rPr lang="en-US" sz="1600" dirty="0"/>
              <a:t>	</a:t>
            </a:r>
          </a:p>
          <a:p>
            <a:r>
              <a:rPr lang="en-US" sz="1600" dirty="0"/>
              <a:t>	The project manager developed a </a:t>
            </a:r>
            <a:r>
              <a:rPr lang="en-US" sz="1600" b="1" dirty="0"/>
              <a:t>task hierarchy </a:t>
            </a:r>
            <a:r>
              <a:rPr lang="en-US" sz="1600" dirty="0"/>
              <a:t>through a Work Breakdown Structure (WBS) and mapped it into Microsoft Project for tracking. Dependencies were outlined, and a Gantt chart was used to visualize timelines. Agile ceremonies were included alongside formal planning:</a:t>
            </a:r>
          </a:p>
          <a:p>
            <a:pPr marL="971550" lvl="1" indent="-285750">
              <a:buFont typeface="Arial" panose="020B0604020202020204" pitchFamily="34" charset="0"/>
              <a:buChar char="•"/>
            </a:pPr>
            <a:r>
              <a:rPr lang="en-US" sz="1600" dirty="0"/>
              <a:t>Three-week sprints with backlog refinement</a:t>
            </a:r>
          </a:p>
          <a:p>
            <a:pPr marL="971550" lvl="1" indent="-285750">
              <a:buFont typeface="Arial" panose="020B0604020202020204" pitchFamily="34" charset="0"/>
              <a:buChar char="•"/>
            </a:pPr>
            <a:r>
              <a:rPr lang="en-US" sz="1600" dirty="0"/>
              <a:t>Daily stand-ups for task tracking</a:t>
            </a:r>
          </a:p>
          <a:p>
            <a:pPr marL="971550" lvl="1" indent="-285750">
              <a:buFont typeface="Arial" panose="020B0604020202020204" pitchFamily="34" charset="0"/>
              <a:buChar char="•"/>
            </a:pPr>
            <a:r>
              <a:rPr lang="en-US" sz="1600" dirty="0"/>
              <a:t>Bi-weekly progress reviews with stakeholders Although the schedule was detailed and comprehensive, execution presented unforeseen challenges.</a:t>
            </a:r>
          </a:p>
          <a:p>
            <a:r>
              <a:rPr lang="en-US" sz="1600" b="1" dirty="0">
                <a:solidFill>
                  <a:srgbClr val="0070C0"/>
                </a:solidFill>
              </a:rPr>
              <a:t>Observed Outcomes </a:t>
            </a:r>
          </a:p>
          <a:p>
            <a:r>
              <a:rPr lang="en-US" sz="1600" dirty="0"/>
              <a:t>	The scheduling framework provided early visibility and clarity, but actual performance deviated from the baseline:</a:t>
            </a:r>
          </a:p>
          <a:p>
            <a:pPr marL="971550" lvl="1" indent="-285750">
              <a:buFont typeface="Arial" panose="020B0604020202020204" pitchFamily="34" charset="0"/>
              <a:buChar char="•"/>
            </a:pPr>
            <a:r>
              <a:rPr lang="en-US" sz="1600" dirty="0"/>
              <a:t>Requirement Finalization Delays: Client-side approvals took 3 extra weeks.</a:t>
            </a:r>
          </a:p>
          <a:p>
            <a:pPr marL="971550" lvl="1" indent="-285750">
              <a:buFont typeface="Arial" panose="020B0604020202020204" pitchFamily="34" charset="0"/>
              <a:buChar char="•"/>
            </a:pPr>
            <a:r>
              <a:rPr lang="en-US" sz="1600" dirty="0"/>
              <a:t>Integration Issues: Payment gateway testing was prolonged, postponing downstream activities.</a:t>
            </a:r>
          </a:p>
          <a:p>
            <a:pPr marL="971550" lvl="1" indent="-285750">
              <a:buFont typeface="Arial" panose="020B0604020202020204" pitchFamily="34" charset="0"/>
              <a:buChar char="•"/>
            </a:pPr>
            <a:r>
              <a:rPr lang="en-US" sz="1600" dirty="0"/>
              <a:t>Resource Bottlenecks: Specialists were allocated across multiple projects, affecting availability. </a:t>
            </a:r>
          </a:p>
          <a:p>
            <a:r>
              <a:rPr lang="en-US" sz="1600" dirty="0"/>
              <a:t>	Ultimately, the project concluded in 9 months, only one month later than planned and within budget, though not without stress on the team.</a:t>
            </a:r>
            <a:endParaRPr lang="en-IN" sz="1600" dirty="0"/>
          </a:p>
        </p:txBody>
      </p:sp>
    </p:spTree>
    <p:extLst>
      <p:ext uri="{BB962C8B-B14F-4D97-AF65-F5344CB8AC3E}">
        <p14:creationId xmlns:p14="http://schemas.microsoft.com/office/powerpoint/2010/main" val="134993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329070"/>
            <a:ext cx="9144000" cy="5220585"/>
          </a:xfrm>
        </p:spPr>
        <p:txBody>
          <a:bodyPr/>
          <a:lstStyle/>
          <a:p>
            <a:r>
              <a:rPr lang="en-US" b="1" dirty="0">
                <a:solidFill>
                  <a:srgbClr val="0070C0"/>
                </a:solidFill>
              </a:rPr>
              <a:t>Key Challenges </a:t>
            </a:r>
          </a:p>
          <a:p>
            <a:pPr marL="685800" indent="-457200">
              <a:buFont typeface="+mj-lt"/>
              <a:buAutoNum type="arabicPeriod"/>
            </a:pPr>
            <a:r>
              <a:rPr lang="en-US" b="1" dirty="0"/>
              <a:t>Overlooked Dependencies </a:t>
            </a:r>
            <a:r>
              <a:rPr lang="en-US" dirty="0"/>
              <a:t>– Coordination across modules was underestimated. </a:t>
            </a:r>
          </a:p>
          <a:p>
            <a:pPr marL="685800" indent="-457200">
              <a:buFont typeface="+mj-lt"/>
              <a:buAutoNum type="arabicPeriod"/>
            </a:pPr>
            <a:r>
              <a:rPr lang="en-US" b="1" dirty="0"/>
              <a:t>Insufficient Contingency </a:t>
            </a:r>
            <a:r>
              <a:rPr lang="en-US" dirty="0"/>
              <a:t>– No effective buffer was built for testing and integration phases. </a:t>
            </a:r>
          </a:p>
          <a:p>
            <a:pPr marL="685800" indent="-457200">
              <a:buFont typeface="+mj-lt"/>
              <a:buAutoNum type="arabicPeriod"/>
            </a:pPr>
            <a:r>
              <a:rPr lang="en-US" b="1" dirty="0"/>
              <a:t>Resource Sharing Conflicts </a:t>
            </a:r>
            <a:r>
              <a:rPr lang="en-US" dirty="0"/>
              <a:t>– Team members with critical expertise were double-booked. </a:t>
            </a:r>
          </a:p>
          <a:p>
            <a:pPr marL="685800" indent="-457200">
              <a:buFont typeface="+mj-lt"/>
              <a:buAutoNum type="arabicPeriod"/>
            </a:pPr>
            <a:r>
              <a:rPr lang="en-US" b="1" dirty="0"/>
              <a:t>Slow Client Feedback </a:t>
            </a:r>
            <a:r>
              <a:rPr lang="en-US" dirty="0"/>
              <a:t>– Response cycles caused recurring slippages in milestones.</a:t>
            </a:r>
          </a:p>
          <a:p>
            <a:r>
              <a:rPr lang="en-US" b="1" dirty="0">
                <a:solidFill>
                  <a:srgbClr val="0070C0"/>
                </a:solidFill>
              </a:rPr>
              <a:t>Personal Reflection</a:t>
            </a:r>
          </a:p>
          <a:p>
            <a:pPr marL="571500" indent="-342900">
              <a:buFont typeface="Arial" panose="020B0604020202020204" pitchFamily="34" charset="0"/>
              <a:buChar char="•"/>
            </a:pPr>
            <a:r>
              <a:rPr lang="en-US" dirty="0"/>
              <a:t>This experience underlined that scheduling success is not only about detailed planning but also about anticipating uncertainties. </a:t>
            </a:r>
          </a:p>
          <a:p>
            <a:pPr marL="571500" indent="-342900">
              <a:buFont typeface="Arial" panose="020B0604020202020204" pitchFamily="34" charset="0"/>
              <a:buChar char="•"/>
            </a:pPr>
            <a:r>
              <a:rPr lang="en-US" dirty="0"/>
              <a:t>Building flexibility into plans, improving estimation discipline, and involving stakeholders more actively would have prevented much of the delay</a:t>
            </a:r>
            <a:endParaRPr lang="en-IN" dirty="0"/>
          </a:p>
        </p:txBody>
      </p:sp>
    </p:spTree>
    <p:extLst>
      <p:ext uri="{BB962C8B-B14F-4D97-AF65-F5344CB8AC3E}">
        <p14:creationId xmlns:p14="http://schemas.microsoft.com/office/powerpoint/2010/main" val="2650957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7020D3-458A-D2D2-66F0-397EABD26F93}"/>
              </a:ext>
            </a:extLst>
          </p:cNvPr>
          <p:cNvPicPr>
            <a:picLocks noChangeAspect="1"/>
          </p:cNvPicPr>
          <p:nvPr/>
        </p:nvPicPr>
        <p:blipFill>
          <a:blip r:embed="rId2"/>
          <a:stretch>
            <a:fillRect/>
          </a:stretch>
        </p:blipFill>
        <p:spPr>
          <a:xfrm>
            <a:off x="-33866" y="0"/>
            <a:ext cx="9211732" cy="6858000"/>
          </a:xfrm>
          <a:prstGeom prst="rect">
            <a:avLst/>
          </a:prstGeom>
        </p:spPr>
      </p:pic>
    </p:spTree>
    <p:extLst>
      <p:ext uri="{BB962C8B-B14F-4D97-AF65-F5344CB8AC3E}">
        <p14:creationId xmlns:p14="http://schemas.microsoft.com/office/powerpoint/2010/main" val="82421015"/>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TotalTime>
  <Words>675</Words>
  <Application>Microsoft Office PowerPoint</Application>
  <PresentationFormat>On-screen Show (4:3)</PresentationFormat>
  <Paragraphs>48</Paragraphs>
  <Slides>7</Slides>
  <Notes>6</Notes>
  <HiddenSlides>0</HiddenSlides>
  <MMClips>0</MMClips>
  <ScaleCrop>false</ScaleCrop>
  <HeadingPairs>
    <vt:vector size="6" baseType="variant">
      <vt:variant>
        <vt:lpstr>Fonts Used</vt:lpstr>
      </vt:variant>
      <vt:variant>
        <vt:i4>1</vt:i4>
      </vt:variant>
      <vt:variant>
        <vt:lpstr>Theme</vt:lpstr>
      </vt:variant>
      <vt:variant>
        <vt:i4>12</vt:i4>
      </vt:variant>
      <vt:variant>
        <vt:lpstr>Slide Titles</vt:lpstr>
      </vt:variant>
      <vt:variant>
        <vt:i4>7</vt:i4>
      </vt:variant>
    </vt:vector>
  </HeadingPairs>
  <TitlesOfParts>
    <vt:vector size="20" baseType="lpstr">
      <vt:lpstr>Arial</vt:lpstr>
      <vt:lpstr>2_Office Theme</vt:lpstr>
      <vt:lpstr>4_Office Theme</vt:lpstr>
      <vt:lpstr>Office Theme</vt:lpstr>
      <vt:lpstr>1_Office Theme</vt:lpstr>
      <vt:lpstr>3_Office Theme</vt:lpstr>
      <vt:lpstr>5_Office Theme</vt:lpstr>
      <vt:lpstr>6_Office Theme</vt:lpstr>
      <vt:lpstr>7_Office Theme</vt:lpstr>
      <vt:lpstr>8_Office Theme</vt:lpstr>
      <vt:lpstr>9_Office Theme</vt:lpstr>
      <vt:lpstr>10_Office Theme</vt:lpstr>
      <vt:lpstr>11_Office Theme</vt:lpstr>
      <vt:lpstr>SSZG622 Software Project Management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Product Management  Specify product features – Story Map</dc:title>
  <dc:creator>Rahul Harmalkar</dc:creator>
  <cp:lastModifiedBy>Rahul Harmalkar</cp:lastModifiedBy>
  <cp:revision>8</cp:revision>
  <dcterms:modified xsi:type="dcterms:W3CDTF">2025-09-13T20:18:51Z</dcterms:modified>
</cp:coreProperties>
</file>